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sldIdLst>
    <p:sldId id="256" r:id="rId2"/>
    <p:sldId id="257" r:id="rId3"/>
    <p:sldId id="262" r:id="rId4"/>
    <p:sldId id="266" r:id="rId5"/>
    <p:sldId id="258"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B6F667-4219-42FE-8D62-E3B65DBB1422}" v="6" dt="2026-08-19T19:04:26.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varScale="1">
        <p:scale>
          <a:sx n="78" d="100"/>
          <a:sy n="78" d="100"/>
        </p:scale>
        <p:origin x="12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gar Paul" userId="93c48943b036e2f7" providerId="LiveId" clId="{3E6E6BCC-AD87-405B-A163-DA2CBA3C11A7}"/>
    <pc:docChg chg="undo custSel modSld">
      <pc:chgData name="Sagar Paul" userId="93c48943b036e2f7" providerId="LiveId" clId="{3E6E6BCC-AD87-405B-A163-DA2CBA3C11A7}" dt="2026-08-19T19:12:16.227" v="187" actId="20577"/>
      <pc:docMkLst>
        <pc:docMk/>
      </pc:docMkLst>
      <pc:sldChg chg="addSp delSp modSp mod">
        <pc:chgData name="Sagar Paul" userId="93c48943b036e2f7" providerId="LiveId" clId="{3E6E6BCC-AD87-405B-A163-DA2CBA3C11A7}" dt="2026-08-19T19:07:51.665" v="108" actId="14100"/>
        <pc:sldMkLst>
          <pc:docMk/>
          <pc:sldMk cId="2772807980" sldId="256"/>
        </pc:sldMkLst>
        <pc:spChg chg="mod">
          <ac:chgData name="Sagar Paul" userId="93c48943b036e2f7" providerId="LiveId" clId="{3E6E6BCC-AD87-405B-A163-DA2CBA3C11A7}" dt="2026-08-19T19:04:44.008" v="76" actId="1076"/>
          <ac:spMkLst>
            <pc:docMk/>
            <pc:sldMk cId="2772807980" sldId="256"/>
            <ac:spMk id="2" creationId="{9D5BBA98-EC22-9272-C976-54487400DC99}"/>
          </ac:spMkLst>
        </pc:spChg>
        <pc:spChg chg="mod">
          <ac:chgData name="Sagar Paul" userId="93c48943b036e2f7" providerId="LiveId" clId="{3E6E6BCC-AD87-405B-A163-DA2CBA3C11A7}" dt="2026-08-19T19:07:51.665" v="108" actId="14100"/>
          <ac:spMkLst>
            <pc:docMk/>
            <pc:sldMk cId="2772807980" sldId="256"/>
            <ac:spMk id="3" creationId="{C4EAED8B-40B8-2F67-2CA2-D6CB3B6F8578}"/>
          </ac:spMkLst>
        </pc:spChg>
        <pc:spChg chg="add del mod">
          <ac:chgData name="Sagar Paul" userId="93c48943b036e2f7" providerId="LiveId" clId="{3E6E6BCC-AD87-405B-A163-DA2CBA3C11A7}" dt="2026-08-19T19:03:24.222" v="60"/>
          <ac:spMkLst>
            <pc:docMk/>
            <pc:sldMk cId="2772807980" sldId="256"/>
            <ac:spMk id="4" creationId="{A0DD968F-3831-8A80-B647-82845FB19DB6}"/>
          </ac:spMkLst>
        </pc:spChg>
      </pc:sldChg>
      <pc:sldChg chg="modSp mod">
        <pc:chgData name="Sagar Paul" userId="93c48943b036e2f7" providerId="LiveId" clId="{3E6E6BCC-AD87-405B-A163-DA2CBA3C11A7}" dt="2026-08-19T19:09:28.777" v="118" actId="108"/>
        <pc:sldMkLst>
          <pc:docMk/>
          <pc:sldMk cId="1239468500" sldId="257"/>
        </pc:sldMkLst>
        <pc:spChg chg="mod">
          <ac:chgData name="Sagar Paul" userId="93c48943b036e2f7" providerId="LiveId" clId="{3E6E6BCC-AD87-405B-A163-DA2CBA3C11A7}" dt="2026-08-19T19:06:15.574" v="90" actId="14100"/>
          <ac:spMkLst>
            <pc:docMk/>
            <pc:sldMk cId="1239468500" sldId="257"/>
            <ac:spMk id="4" creationId="{A541373F-6A73-4B5F-E4FC-95E89DA16583}"/>
          </ac:spMkLst>
        </pc:spChg>
        <pc:spChg chg="mod">
          <ac:chgData name="Sagar Paul" userId="93c48943b036e2f7" providerId="LiveId" clId="{3E6E6BCC-AD87-405B-A163-DA2CBA3C11A7}" dt="2026-08-19T19:09:28.777" v="118" actId="108"/>
          <ac:spMkLst>
            <pc:docMk/>
            <pc:sldMk cId="1239468500" sldId="257"/>
            <ac:spMk id="5" creationId="{FFB07957-8AEC-E74B-74C4-5935935C9130}"/>
          </ac:spMkLst>
        </pc:spChg>
      </pc:sldChg>
      <pc:sldChg chg="modSp mod">
        <pc:chgData name="Sagar Paul" userId="93c48943b036e2f7" providerId="LiveId" clId="{3E6E6BCC-AD87-405B-A163-DA2CBA3C11A7}" dt="2026-08-19T19:11:46.617" v="146" actId="14100"/>
        <pc:sldMkLst>
          <pc:docMk/>
          <pc:sldMk cId="349862419" sldId="258"/>
        </pc:sldMkLst>
        <pc:spChg chg="mod">
          <ac:chgData name="Sagar Paul" userId="93c48943b036e2f7" providerId="LiveId" clId="{3E6E6BCC-AD87-405B-A163-DA2CBA3C11A7}" dt="2026-08-19T19:07:05.474" v="103" actId="20577"/>
          <ac:spMkLst>
            <pc:docMk/>
            <pc:sldMk cId="349862419" sldId="258"/>
            <ac:spMk id="2" creationId="{035C383B-F10C-7ECB-AA0D-9A79BD44F6B7}"/>
          </ac:spMkLst>
        </pc:spChg>
        <pc:spChg chg="mod">
          <ac:chgData name="Sagar Paul" userId="93c48943b036e2f7" providerId="LiveId" clId="{3E6E6BCC-AD87-405B-A163-DA2CBA3C11A7}" dt="2026-08-19T19:11:46.617" v="146" actId="14100"/>
          <ac:spMkLst>
            <pc:docMk/>
            <pc:sldMk cId="349862419" sldId="258"/>
            <ac:spMk id="3" creationId="{F9AAA8B0-E93B-E9BB-8C09-E2F8D0D61EB5}"/>
          </ac:spMkLst>
        </pc:spChg>
      </pc:sldChg>
      <pc:sldChg chg="modSp mod">
        <pc:chgData name="Sagar Paul" userId="93c48943b036e2f7" providerId="LiveId" clId="{3E6E6BCC-AD87-405B-A163-DA2CBA3C11A7}" dt="2026-08-19T19:12:16.227" v="187" actId="20577"/>
        <pc:sldMkLst>
          <pc:docMk/>
          <pc:sldMk cId="3166029343" sldId="260"/>
        </pc:sldMkLst>
        <pc:spChg chg="mod">
          <ac:chgData name="Sagar Paul" userId="93c48943b036e2f7" providerId="LiveId" clId="{3E6E6BCC-AD87-405B-A163-DA2CBA3C11A7}" dt="2026-08-19T19:07:31.881" v="106" actId="255"/>
          <ac:spMkLst>
            <pc:docMk/>
            <pc:sldMk cId="3166029343" sldId="260"/>
            <ac:spMk id="2" creationId="{6F41F449-8457-0E38-E3B4-75FA6F83C166}"/>
          </ac:spMkLst>
        </pc:spChg>
        <pc:spChg chg="mod">
          <ac:chgData name="Sagar Paul" userId="93c48943b036e2f7" providerId="LiveId" clId="{3E6E6BCC-AD87-405B-A163-DA2CBA3C11A7}" dt="2026-08-19T19:12:16.227" v="187" actId="20577"/>
          <ac:spMkLst>
            <pc:docMk/>
            <pc:sldMk cId="3166029343" sldId="260"/>
            <ac:spMk id="3" creationId="{A96A4C0A-7CD6-52C8-5795-CE203917B8A2}"/>
          </ac:spMkLst>
        </pc:spChg>
      </pc:sldChg>
      <pc:sldChg chg="modSp mod">
        <pc:chgData name="Sagar Paul" userId="93c48943b036e2f7" providerId="LiveId" clId="{3E6E6BCC-AD87-405B-A163-DA2CBA3C11A7}" dt="2026-08-19T19:11:26.624" v="145" actId="1037"/>
        <pc:sldMkLst>
          <pc:docMk/>
          <pc:sldMk cId="456862967" sldId="262"/>
        </pc:sldMkLst>
        <pc:spChg chg="mod">
          <ac:chgData name="Sagar Paul" userId="93c48943b036e2f7" providerId="LiveId" clId="{3E6E6BCC-AD87-405B-A163-DA2CBA3C11A7}" dt="2026-08-19T19:06:25.653" v="91" actId="108"/>
          <ac:spMkLst>
            <pc:docMk/>
            <pc:sldMk cId="456862967" sldId="262"/>
            <ac:spMk id="2" creationId="{25E5519D-E5FA-5BA8-A4BA-A225CA110308}"/>
          </ac:spMkLst>
        </pc:spChg>
        <pc:spChg chg="mod">
          <ac:chgData name="Sagar Paul" userId="93c48943b036e2f7" providerId="LiveId" clId="{3E6E6BCC-AD87-405B-A163-DA2CBA3C11A7}" dt="2026-08-19T19:11:26.624" v="145" actId="1037"/>
          <ac:spMkLst>
            <pc:docMk/>
            <pc:sldMk cId="456862967" sldId="262"/>
            <ac:spMk id="3" creationId="{3AACD20F-C850-EB87-7F72-C016CF415169}"/>
          </ac:spMkLst>
        </pc:spChg>
      </pc:sldChg>
      <pc:sldChg chg="modSp mod">
        <pc:chgData name="Sagar Paul" userId="93c48943b036e2f7" providerId="LiveId" clId="{3E6E6BCC-AD87-405B-A163-DA2CBA3C11A7}" dt="2026-08-19T19:11:08.667" v="140" actId="20577"/>
        <pc:sldMkLst>
          <pc:docMk/>
          <pc:sldMk cId="2218198170" sldId="266"/>
        </pc:sldMkLst>
        <pc:spChg chg="mod">
          <ac:chgData name="Sagar Paul" userId="93c48943b036e2f7" providerId="LiveId" clId="{3E6E6BCC-AD87-405B-A163-DA2CBA3C11A7}" dt="2026-08-19T19:06:36.241" v="93" actId="108"/>
          <ac:spMkLst>
            <pc:docMk/>
            <pc:sldMk cId="2218198170" sldId="266"/>
            <ac:spMk id="2" creationId="{25E5519D-E5FA-5BA8-A4BA-A225CA110308}"/>
          </ac:spMkLst>
        </pc:spChg>
        <pc:spChg chg="mod">
          <ac:chgData name="Sagar Paul" userId="93c48943b036e2f7" providerId="LiveId" clId="{3E6E6BCC-AD87-405B-A163-DA2CBA3C11A7}" dt="2026-08-19T19:11:08.667" v="140" actId="20577"/>
          <ac:spMkLst>
            <pc:docMk/>
            <pc:sldMk cId="2218198170" sldId="266"/>
            <ac:spMk id="3" creationId="{3AACD20F-C850-EB87-7F72-C016CF41516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E4130FF-60BC-4C0C-AEE3-7285F2A694C4}" type="datetimeFigureOut">
              <a:rPr lang="nb-NO" smtClean="0"/>
              <a:t>20.08.2026</a:t>
            </a:fld>
            <a:endParaRPr lang="nb-NO"/>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nb-NO"/>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183267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4130FF-60BC-4C0C-AEE3-7285F2A694C4}" type="datetimeFigureOut">
              <a:rPr lang="nb-NO" smtClean="0"/>
              <a:t>20.08.2026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a:xfrm>
            <a:off x="10558300" y="5956137"/>
            <a:ext cx="1052508" cy="365125"/>
          </a:xfrm>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692727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E4130FF-60BC-4C0C-AEE3-7285F2A694C4}" type="datetimeFigureOut">
              <a:rPr lang="nb-NO" smtClean="0"/>
              <a:t>20.08.2026</a:t>
            </a:fld>
            <a:endParaRPr lang="nb-NO"/>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nb-NO"/>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2971175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4130FF-60BC-4C0C-AEE3-7285F2A694C4}" type="datetimeFigureOut">
              <a:rPr lang="nb-NO" smtClean="0"/>
              <a:t>20.08.2026</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646511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4130FF-60BC-4C0C-AEE3-7285F2A694C4}" type="datetimeFigureOut">
              <a:rPr lang="nb-NO" smtClean="0"/>
              <a:t>20.08.2026</a:t>
            </a:fld>
            <a:endParaRPr lang="nb-NO"/>
          </a:p>
        </p:txBody>
      </p:sp>
      <p:sp>
        <p:nvSpPr>
          <p:cNvPr id="8" name="Footer Placeholder 7"/>
          <p:cNvSpPr>
            <a:spLocks noGrp="1"/>
          </p:cNvSpPr>
          <p:nvPr>
            <p:ph type="ftr" sz="quarter" idx="11"/>
          </p:nvPr>
        </p:nvSpPr>
        <p:spPr/>
        <p:txBody>
          <a:bodyPr/>
          <a:lstStyle/>
          <a:p>
            <a:endParaRPr lang="nb-NO"/>
          </a:p>
        </p:txBody>
      </p:sp>
      <p:sp>
        <p:nvSpPr>
          <p:cNvPr id="9" name="Slide Number Placeholder 8"/>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68179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4130FF-60BC-4C0C-AEE3-7285F2A694C4}" type="datetimeFigureOut">
              <a:rPr lang="nb-NO" smtClean="0"/>
              <a:t>20.08.2026</a:t>
            </a:fld>
            <a:endParaRPr lang="nb-NO"/>
          </a:p>
        </p:txBody>
      </p:sp>
      <p:sp>
        <p:nvSpPr>
          <p:cNvPr id="4" name="Footer Placeholder 3"/>
          <p:cNvSpPr>
            <a:spLocks noGrp="1"/>
          </p:cNvSpPr>
          <p:nvPr>
            <p:ph type="ftr" sz="quarter" idx="11"/>
          </p:nvPr>
        </p:nvSpPr>
        <p:spPr/>
        <p:txBody>
          <a:bodyPr/>
          <a:lstStyle/>
          <a:p>
            <a:endParaRPr lang="nb-NO"/>
          </a:p>
        </p:txBody>
      </p:sp>
      <p:sp>
        <p:nvSpPr>
          <p:cNvPr id="5" name="Slide Number Placeholder 4"/>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1638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130FF-60BC-4C0C-AEE3-7285F2A694C4}" type="datetimeFigureOut">
              <a:rPr lang="nb-NO" smtClean="0"/>
              <a:t>20.08.2026</a:t>
            </a:fld>
            <a:endParaRPr lang="nb-NO"/>
          </a:p>
        </p:txBody>
      </p:sp>
      <p:sp>
        <p:nvSpPr>
          <p:cNvPr id="3" name="Footer Placeholder 2"/>
          <p:cNvSpPr>
            <a:spLocks noGrp="1"/>
          </p:cNvSpPr>
          <p:nvPr>
            <p:ph type="ftr" sz="quarter" idx="11"/>
          </p:nvPr>
        </p:nvSpPr>
        <p:spPr/>
        <p:txBody>
          <a:bodyPr/>
          <a:lstStyle/>
          <a:p>
            <a:endParaRPr lang="nb-NO"/>
          </a:p>
        </p:txBody>
      </p:sp>
      <p:sp>
        <p:nvSpPr>
          <p:cNvPr id="4" name="Slide Number Placeholder 3"/>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39892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E4130FF-60BC-4C0C-AEE3-7285F2A694C4}" type="datetimeFigureOut">
              <a:rPr lang="nb-NO" smtClean="0"/>
              <a:t>20.08.2026</a:t>
            </a:fld>
            <a:endParaRPr lang="nb-NO"/>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nb-NO"/>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503687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130FF-60BC-4C0C-AEE3-7285F2A694C4}" type="datetimeFigureOut">
              <a:rPr lang="nb-NO" smtClean="0"/>
              <a:t>20.08.2026</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219173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4130FF-60BC-4C0C-AEE3-7285F2A694C4}" type="datetimeFigureOut">
              <a:rPr lang="nb-NO" smtClean="0"/>
              <a:t>20.08.2026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606004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E4130FF-60BC-4C0C-AEE3-7285F2A694C4}" type="datetimeFigureOut">
              <a:rPr lang="nb-NO" smtClean="0"/>
              <a:t>20.08.2026</a:t>
            </a:fld>
            <a:endParaRPr lang="nb-NO"/>
          </a:p>
        </p:txBody>
      </p:sp>
      <p:sp>
        <p:nvSpPr>
          <p:cNvPr id="5" name="Footer Placeholder 4"/>
          <p:cNvSpPr>
            <a:spLocks noGrp="1"/>
          </p:cNvSpPr>
          <p:nvPr>
            <p:ph type="ftr" sz="quarter" idx="11"/>
          </p:nvPr>
        </p:nvSpPr>
        <p:spPr>
          <a:xfrm>
            <a:off x="774923" y="5951811"/>
            <a:ext cx="7896279" cy="365125"/>
          </a:xfrm>
        </p:spPr>
        <p:txBody>
          <a:bodyPr/>
          <a:lstStyle/>
          <a:p>
            <a:endParaRPr lang="nb-NO"/>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3534931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E4130FF-60BC-4C0C-AEE3-7285F2A694C4}" type="datetimeFigureOut">
              <a:rPr lang="nb-NO" smtClean="0"/>
              <a:t>20.08.2026</a:t>
            </a:fld>
            <a:endParaRPr lang="nb-NO"/>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nb-NO"/>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D9F6004-803D-4B18-B659-7E2122392222}" type="slidenum">
              <a:rPr lang="nb-NO" smtClean="0"/>
              <a:t>‹#›</a:t>
            </a:fld>
            <a:endParaRPr lang="nb-NO"/>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71471354"/>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a:xfrm>
            <a:off x="5388077" y="943897"/>
            <a:ext cx="5678286" cy="2091812"/>
          </a:xfrm>
        </p:spPr>
        <p:txBody>
          <a:bodyPr>
            <a:normAutofit fontScale="90000"/>
          </a:bodyPr>
          <a:lstStyle/>
          <a:p>
            <a:r>
              <a:rPr lang="en-US" sz="4800" b="1" dirty="0"/>
              <a:t>Marketing Analytics Business Case</a:t>
            </a:r>
            <a:endParaRPr lang="nb-NO" sz="4800"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a:xfrm>
            <a:off x="5889522" y="3166114"/>
            <a:ext cx="2251588" cy="501318"/>
          </a:xfrm>
        </p:spPr>
        <p:txBody>
          <a:bodyPr>
            <a:normAutofit/>
          </a:bodyPr>
          <a:lstStyle/>
          <a:p>
            <a:r>
              <a:rPr lang="nb-NO" sz="2000" dirty="0">
                <a:solidFill>
                  <a:schemeClr val="bg1"/>
                </a:solidFill>
                <a:latin typeface="Cascadia Code" panose="020B0609020000020004" pitchFamily="49" charset="0"/>
                <a:cs typeface="Cascadia Code" panose="020B0609020000020004" pitchFamily="49" charset="0"/>
              </a:rPr>
              <a:t>- Sagar Paul</a:t>
            </a:r>
          </a:p>
          <a:p>
            <a:endParaRPr lang="nb-NO" dirty="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a:xfrm>
            <a:off x="581192" y="702156"/>
            <a:ext cx="11029616" cy="762850"/>
          </a:xfrm>
        </p:spPr>
        <p:txBody>
          <a:bodyPr/>
          <a:lstStyle/>
          <a:p>
            <a:pPr algn="ctr"/>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77500" lnSpcReduction="20000"/>
          </a:bodyPr>
          <a:lstStyle/>
          <a:p>
            <a:pPr>
              <a:lnSpc>
                <a:spcPct val="170000"/>
              </a:lnSpc>
            </a:pPr>
            <a:r>
              <a:rPr lang="en-US" b="1" dirty="0"/>
              <a:t>Digital-Wave</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vert="horz" lIns="91440" tIns="45720" rIns="91440" bIns="45720" rtlCol="0" anchor="b">
            <a:normAutofit/>
          </a:bodyPr>
          <a:lstStyle/>
          <a:p>
            <a:pPr algn="ctr"/>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a:xfrm>
            <a:off x="532032" y="1868129"/>
            <a:ext cx="11029615" cy="4886632"/>
          </a:xfrm>
        </p:spPr>
        <p:txBody>
          <a:bodyPr>
            <a:noAutofit/>
          </a:bodyPr>
          <a:lstStyle/>
          <a:p>
            <a:pPr marL="0" indent="0">
              <a:lnSpc>
                <a:spcPct val="170000"/>
              </a:lnSpc>
              <a:buNone/>
            </a:pPr>
            <a:r>
              <a:rPr lang="en-US" sz="1300" dirty="0"/>
              <a:t>Hi Data Analyst,</a:t>
            </a:r>
          </a:p>
          <a:p>
            <a:pPr marL="0" indent="0">
              <a:lnSpc>
                <a:spcPct val="170000"/>
              </a:lnSpc>
              <a:buNone/>
            </a:pPr>
            <a:r>
              <a:rPr lang="en-US" sz="1300" dirty="0"/>
              <a:t>I hope this email finds you well. I’m the Marketing Manager at Digital-Wave. We’ve been facing some challenges with our marketing campaigns lately, and I’m reaching out to request your expertise in data analysis to help us identify areas for improvement.</a:t>
            </a:r>
          </a:p>
          <a:p>
            <a:pPr marL="0" indent="0">
              <a:lnSpc>
                <a:spcPct val="170000"/>
              </a:lnSpc>
              <a:buNone/>
            </a:pPr>
            <a:r>
              <a:rPr lang="en-US" sz="1300"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a:t>
            </a:r>
            <a:r>
              <a:rPr lang="en-US" sz="1300" dirty="0" err="1"/>
              <a:t>optimise</a:t>
            </a:r>
            <a:r>
              <a:rPr lang="en-US" sz="1300" dirty="0"/>
              <a:t> our efforts.</a:t>
            </a:r>
          </a:p>
          <a:p>
            <a:pPr marL="0" indent="0">
              <a:lnSpc>
                <a:spcPct val="170000"/>
              </a:lnSpc>
              <a:buNone/>
            </a:pPr>
            <a:r>
              <a:rPr lang="en-US" sz="1300"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sz="1300" dirty="0"/>
              <a:t>Looking forward to your response.</a:t>
            </a:r>
          </a:p>
          <a:p>
            <a:pPr marL="0" indent="0">
              <a:lnSpc>
                <a:spcPct val="170000"/>
              </a:lnSpc>
              <a:buNone/>
            </a:pPr>
            <a:r>
              <a:rPr lang="en-US" sz="1300" dirty="0"/>
              <a:t>Best regards,</a:t>
            </a:r>
            <a:br>
              <a:rPr lang="en-US" sz="1300" dirty="0"/>
            </a:br>
            <a:r>
              <a:rPr lang="en-US" sz="1300" dirty="0"/>
              <a:t>Jane Doe</a:t>
            </a:r>
            <a:br>
              <a:rPr lang="en-US" sz="1300" dirty="0"/>
            </a:br>
            <a:r>
              <a:rPr lang="en-US" sz="1300"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vert="horz" lIns="91440" tIns="45720" rIns="91440" bIns="45720" rtlCol="0" anchor="b">
            <a:normAutofit/>
          </a:bodyPr>
          <a:lstStyle/>
          <a:p>
            <a:pPr algn="ctr"/>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a:xfrm>
            <a:off x="650019" y="1936955"/>
            <a:ext cx="11029615" cy="4778477"/>
          </a:xfrm>
        </p:spPr>
        <p:txBody>
          <a:bodyPr>
            <a:noAutofit/>
          </a:bodyPr>
          <a:lstStyle/>
          <a:p>
            <a:pPr marL="0" indent="0">
              <a:lnSpc>
                <a:spcPct val="170000"/>
              </a:lnSpc>
              <a:buNone/>
            </a:pPr>
            <a:r>
              <a:rPr lang="en-US" sz="1300" dirty="0"/>
              <a:t>Hi Data Analyst,</a:t>
            </a:r>
          </a:p>
          <a:p>
            <a:pPr marL="0" indent="0">
              <a:lnSpc>
                <a:spcPct val="170000"/>
              </a:lnSpc>
              <a:buNone/>
            </a:pPr>
            <a:r>
              <a:rPr lang="en-US" sz="1300" dirty="0"/>
              <a:t>I’m the Customer Experience Manager at Digital-Wave, and I’m writing to seek your help with </a:t>
            </a:r>
            <a:r>
              <a:rPr lang="en-US" sz="1300" dirty="0" err="1"/>
              <a:t>analysing</a:t>
            </a:r>
            <a:r>
              <a:rPr lang="en-US" sz="1300" dirty="0"/>
              <a:t> our customer feedback. Over the past few months, we’ve noticed a drop in customer engagement and satisfaction, which is impacting our overall conversion rates.</a:t>
            </a:r>
          </a:p>
          <a:p>
            <a:pPr marL="0" indent="0">
              <a:lnSpc>
                <a:spcPct val="170000"/>
              </a:lnSpc>
              <a:buNone/>
            </a:pPr>
            <a:r>
              <a:rPr lang="en-US" sz="1300" dirty="0"/>
              <a:t>We’ve gathered a significant amount of customer reviews and social media comments that highlight various issues and sentiments. We believe that by thoroughly </a:t>
            </a:r>
            <a:r>
              <a:rPr lang="en-US" sz="1300" dirty="0" err="1"/>
              <a:t>analysing</a:t>
            </a:r>
            <a:r>
              <a:rPr lang="en-US" sz="1300" dirty="0"/>
              <a:t> this feedback, we can gain a better understanding of our customers' needs and pain points.</a:t>
            </a:r>
          </a:p>
          <a:p>
            <a:pPr marL="0" indent="0">
              <a:lnSpc>
                <a:spcPct val="170000"/>
              </a:lnSpc>
              <a:buNone/>
            </a:pPr>
            <a:r>
              <a:rPr lang="en-US" sz="1300"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sz="1300" dirty="0"/>
              <a:t>Thank you for your assistance.</a:t>
            </a:r>
          </a:p>
          <a:p>
            <a:pPr marL="0" indent="0">
              <a:lnSpc>
                <a:spcPct val="170000"/>
              </a:lnSpc>
              <a:buNone/>
            </a:pPr>
            <a:r>
              <a:rPr lang="en-US" sz="1300" dirty="0"/>
              <a:t>Best regards,</a:t>
            </a:r>
            <a:br>
              <a:rPr lang="en-US" sz="1300" dirty="0"/>
            </a:br>
            <a:r>
              <a:rPr lang="en-US" sz="1300" dirty="0"/>
              <a:t>John Smith</a:t>
            </a:r>
            <a:br>
              <a:rPr lang="en-US" sz="1300" dirty="0"/>
            </a:br>
            <a:r>
              <a:rPr lang="en-US" sz="1300" dirty="0"/>
              <a:t>Customer Experience Manager</a:t>
            </a:r>
            <a:br>
              <a:rPr lang="en-US" sz="1300" dirty="0"/>
            </a:br>
            <a:r>
              <a:rPr lang="en-US" sz="1300" dirty="0"/>
              <a:t>Digital-Wave</a:t>
            </a:r>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a:xfrm>
            <a:off x="581192" y="702156"/>
            <a:ext cx="11029616" cy="762850"/>
          </a:xfrm>
        </p:spPr>
        <p:txBody>
          <a:bodyPr vert="horz" lIns="91440" tIns="45720" rIns="91440" bIns="45720" rtlCol="0" anchor="b">
            <a:normAutofit/>
          </a:bodyPr>
          <a:lstStyle/>
          <a:p>
            <a:pPr algn="ctr"/>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a:xfrm>
            <a:off x="581192" y="2180497"/>
            <a:ext cx="11029615" cy="2942110"/>
          </a:xfrm>
        </p:spPr>
        <p:txBody>
          <a:bodyPr>
            <a:normAutofit/>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a:xfrm>
            <a:off x="581192" y="702156"/>
            <a:ext cx="11029616" cy="743186"/>
          </a:xfrm>
        </p:spPr>
        <p:txBody>
          <a:bodyPr vert="horz" lIns="91440" tIns="45720" rIns="91440" bIns="45720" rtlCol="0" anchor="b">
            <a:normAutofit/>
          </a:bodyPr>
          <a:lstStyle/>
          <a:p>
            <a:pPr algn="ctr"/>
            <a:r>
              <a:rPr lang="en-US" sz="3200" b="1" dirty="0"/>
              <a:t>Goals</a:t>
            </a:r>
            <a:endParaRPr lang="nb-NO" sz="3200"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a:xfrm>
            <a:off x="581192" y="1924856"/>
            <a:ext cx="11029615" cy="4289130"/>
          </a:xfrm>
        </p:spPr>
        <p:txBody>
          <a:bodyPr>
            <a:normAutofit fontScale="47500" lnSpcReduction="20000"/>
          </a:bodyPr>
          <a:lstStyle/>
          <a:p>
            <a:pPr>
              <a:lnSpc>
                <a:spcPct val="170000"/>
              </a:lnSpc>
            </a:pPr>
            <a:r>
              <a:rPr lang="en-US" sz="3400" b="1" dirty="0"/>
              <a:t>Increase Conversion Rates:</a:t>
            </a:r>
          </a:p>
          <a:p>
            <a:pPr lvl="1">
              <a:lnSpc>
                <a:spcPct val="170000"/>
              </a:lnSpc>
            </a:pPr>
            <a:r>
              <a:rPr lang="en-US" sz="2900" b="1" dirty="0"/>
              <a:t>Goal: </a:t>
            </a:r>
            <a:r>
              <a:rPr lang="en-US" sz="2900" dirty="0"/>
              <a:t>Identify factors impacting the conversion rate and provide recommendations to improve it.</a:t>
            </a:r>
          </a:p>
          <a:p>
            <a:pPr lvl="1">
              <a:lnSpc>
                <a:spcPct val="170000"/>
              </a:lnSpc>
            </a:pPr>
            <a:r>
              <a:rPr lang="en-US" sz="2900" b="1" dirty="0"/>
              <a:t>Insight: </a:t>
            </a:r>
            <a:r>
              <a:rPr lang="en-US" sz="2900" dirty="0"/>
              <a:t>Highlight key stages where visitors drop off and suggest improvements to </a:t>
            </a:r>
            <a:r>
              <a:rPr lang="en-US" sz="2900" dirty="0" err="1"/>
              <a:t>optimise</a:t>
            </a:r>
            <a:r>
              <a:rPr lang="en-US" sz="2900" dirty="0"/>
              <a:t> the conversion funnel.</a:t>
            </a:r>
          </a:p>
          <a:p>
            <a:pPr>
              <a:lnSpc>
                <a:spcPct val="170000"/>
              </a:lnSpc>
            </a:pPr>
            <a:r>
              <a:rPr lang="en-US" sz="3400" b="1" dirty="0"/>
              <a:t>Enhance Customer Engagement:</a:t>
            </a:r>
            <a:endParaRPr lang="en-US" sz="3400" dirty="0"/>
          </a:p>
          <a:p>
            <a:pPr lvl="1">
              <a:lnSpc>
                <a:spcPct val="170000"/>
              </a:lnSpc>
            </a:pPr>
            <a:r>
              <a:rPr lang="en-US" sz="2900" b="1" dirty="0"/>
              <a:t>Goal:</a:t>
            </a:r>
            <a:r>
              <a:rPr lang="en-US" sz="2900" dirty="0"/>
              <a:t> Determine which types of content drive the highest engagement. </a:t>
            </a:r>
          </a:p>
          <a:p>
            <a:pPr lvl="1">
              <a:lnSpc>
                <a:spcPct val="170000"/>
              </a:lnSpc>
            </a:pPr>
            <a:r>
              <a:rPr lang="en-US" sz="2900" b="1" dirty="0"/>
              <a:t>Insight:</a:t>
            </a:r>
            <a:r>
              <a:rPr lang="en-US" sz="2900" dirty="0"/>
              <a:t> </a:t>
            </a:r>
            <a:r>
              <a:rPr lang="en-US" sz="2900" dirty="0" err="1"/>
              <a:t>Analyse</a:t>
            </a:r>
            <a:r>
              <a:rPr lang="en-US" sz="2900" dirty="0"/>
              <a:t> interaction levels with different types of marketing content to inform better content strategies.</a:t>
            </a:r>
          </a:p>
          <a:p>
            <a:pPr>
              <a:lnSpc>
                <a:spcPct val="170000"/>
              </a:lnSpc>
            </a:pPr>
            <a:r>
              <a:rPr lang="en-US" sz="3400" b="1" dirty="0"/>
              <a:t>Improve Customer Feedback Scores:</a:t>
            </a:r>
            <a:endParaRPr lang="en-US" sz="3400" dirty="0"/>
          </a:p>
          <a:p>
            <a:pPr lvl="1">
              <a:lnSpc>
                <a:spcPct val="170000"/>
              </a:lnSpc>
            </a:pPr>
            <a:r>
              <a:rPr lang="en-US" sz="2900" b="1" dirty="0"/>
              <a:t>Goal:</a:t>
            </a:r>
            <a:r>
              <a:rPr lang="en-US" sz="2900" dirty="0"/>
              <a:t> Understand common themes in customer reviews and provide actionable insights.</a:t>
            </a:r>
          </a:p>
          <a:p>
            <a:pPr lvl="1">
              <a:lnSpc>
                <a:spcPct val="170000"/>
              </a:lnSpc>
            </a:pPr>
            <a:r>
              <a:rPr lang="en-US" sz="2900" b="1" dirty="0"/>
              <a:t>Insight:</a:t>
            </a:r>
            <a:r>
              <a:rPr lang="en-US" sz="2900" dirty="0"/>
              <a:t> Identify recurring positive and negative feedback to guide product and service improvements</a:t>
            </a:r>
            <a:r>
              <a:rPr lang="en-US" dirty="0"/>
              <a:t>.</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461</TotalTime>
  <Words>615</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Cascadia Code</vt:lpstr>
      <vt:lpstr>Gill Sans MT</vt:lpstr>
      <vt:lpstr>Wingdings 2</vt:lpstr>
      <vt:lpstr>Dividend</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Sagar Paul</cp:lastModifiedBy>
  <cp:revision>2</cp:revision>
  <dcterms:created xsi:type="dcterms:W3CDTF">2024-07-20T13:50:58Z</dcterms:created>
  <dcterms:modified xsi:type="dcterms:W3CDTF">2026-08-19T19:12:24Z</dcterms:modified>
</cp:coreProperties>
</file>